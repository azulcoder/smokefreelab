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notebooks, one repository, one question — how does a data scientist defend an IDR budget reallocation. The deck walks through funnel, experimentation, attribution, MMM, elasticity, and CLV, with every number framed in rupiah.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slide that follows answers one of these three. If a slide does not answer one of them, it is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Portfolio quality bar: typed, tested, linted. The bar is the same as production; the domain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5-minute executive brief: where does the funnel leak, and where do we deploy experiments for maximum IDR return per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I'd present at the first stakeholder meeting. Re-frame the conversation from 'is the p-value below 5%' to 'how confident are we and at what cost if we're wrong'.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Attribution is not an ML problem; it's a coalitional game-theory problem. Shapley values are the only credit-allocation scheme that satisfies efficiency, symmetry, and null-player axioms simultaneously.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 adstock and Hill saturation in PyMC — no black-box package. Every prior is defensible in this room. The HDI is on the chart, so readers see the uncertainty, not just the point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Elasticity is a core number the finance team asks for every time cukai moves. Hierarchical partial pooling is the defensible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justifies cutting the long tail and concentrating on Champions and At-Risk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Rp 27 B number is conservative. The full sensitivity matrix — 1 pp to 3 pp lift × Rp 225K to Rp 675K LTV — spans Rp 6.75 B to Rp 60 B. The point is not the point estimate; the point is I can tell you where the number falls on that grid given an input I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F3F1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000" b="1">
                <a:solidFill>
                  <a:srgbClr val="111111"/>
                </a:solidFill>
                <a:latin typeface="Helvetica"/>
              </a:rPr>
              <a:t>SmokeFreeLab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555555"/>
                </a:solidFill>
                <a:latin typeface="Helvetica"/>
              </a:rPr>
              <a:t>Commercial analytics for a smoke-free product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1111"/>
                </a:solidFill>
                <a:latin typeface="Helvetica"/>
              </a:rPr>
              <a:t>Ahmad Zulfan (Az)</a:t>
            </a:r>
          </a:p>
          <a:p>
            <a:r>
              <a:rPr sz="1400" b="0">
                <a:solidFill>
                  <a:srgbClr val="555555"/>
                </a:solidFill>
                <a:latin typeface="Helvetica"/>
              </a:rPr>
              <a:t>Jakarta · April 2026</a:t>
            </a:r>
          </a:p>
          <a:p>
            <a:r>
              <a:rPr sz="1400" b="1">
                <a:solidFill>
                  <a:srgbClr val="8B0000"/>
                </a:solidFill>
                <a:latin typeface="Helvetica"/>
              </a:rPr>
              <a:t>github.com/azulcoder/smokefreelab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THE QUESTION THIS REPO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Should we spend the next Rp 50 B / quarter the same way we spent the last 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11111"/>
                </a:solidFill>
                <a:latin typeface="Helvetica"/>
              </a:rPr>
              <a:t>•  Is the funnel working end-to-end?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111"/>
                </a:solidFill>
                <a:latin typeface="Helvetica"/>
              </a:rPr>
              <a:t>•  Which channel carries the incremental conversion?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11111"/>
                </a:solidFill>
                <a:latin typeface="Helvetica"/>
              </a:rPr>
              <a:t>•  Is the price elastic enough that a cukai hike will drop volume?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THE STACK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Nine notebooks, six modules, one 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Nine executable notebooks.  01_ EDA  →  09_ MMM.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Six library modules.  analytics/ · attribution/ · experiment/ · features/ · data/.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One Streamlit app — Experiment Designer, three tabs (Planner / Readout / Peeking).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Quality gate:  ruff + black + mypy --strict + pytest ≥ 60% coverage,  CI green.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Where the money leaks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354,857 sessions  —  GA4 BigQuery public sample.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20.0% view_item → add_to_cart.  Worst proportional leak ≈ 80% at one stage.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Stage CVR lift economics are asymmetric: +1 pp at stage 2 is worth ≈ 4×  +1 pp at stage 5.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Where we deploy experiments first — the leak with highest rupiah recovery per pp lifted.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EXPERIMENTATION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What to ship when p &gt; 0.05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SRM gate first.  Reject any experiment that fails SRM at α = 0.01 — lifts cannot be trusted when assignment is broken.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Frequentist CI + Bayesian  P(T &gt; C).  Stakeholders understand  "P(treatment beats control) = 96%".  They do not understand  "p = 0.04".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Peeking is the real enemy.  Empirical Type-I inflation  5%  →  ≈ 15%  at  10  peeks.  Bayesian posteriors are always-valid.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ATTRIBUTION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Where did the conversion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Six methods compared head-to-head:  last-click · first-click · linear · time-decay · Markov · exact Shapley.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Last-click over-credits bottom-funnel channels by ≈ 30–40% vs Shapley.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Compensation schemes pegged to last-click reward conversion, not contribution — brand-building channels are systematically underpaid.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Shapley values are the only credit-allocation scheme satisfying efficiency, symmetry, and null-player simultaneously.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MMM — THE SIGNATURE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How do we reallocate the next Rp 50 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Current allocation:  TV  32%  ·  digital  12%  ·  trade  52%  ·  other  4%.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Posterior-mean marginal ROI:  TV ≈ 2.4×  ·  digital ≈ 1.9×  ·  trade ≈ 2.7×.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Recommendation:  shift  Rp 5 B  TV → trade this quarter.  Expected gain ≈  Rp 1.4 B  incremental revenue at constant spend.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Risk flag:  trade is near its Hill-saturation elbow.  Beyond  Rp 3 B / week  marginal return drops sharply — monitor weekly.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PRICE ELASTICITY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What does the next cukai hike do to volume?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Scenario:  Rp 3,000  →  Rp 3,800 per stick  (+26.7%).  Category-wide volume  ≈  −14%  under hierarchical pooling.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Elastic-SKU bucket alone drops  ≈  −33%.  Partial pooling pulls extreme SKU estimates toward the category baseline.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Why hierarchical, not OLS:  thin SKU panels under-cover in OLS.  Pooling stabilises estimates without hiding heterogeneity.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Use both numbers:  OLS as upper bound, hierarchical as central estimate — that is the boundary range CFOs plan against.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CLV + RFM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Who are the top-decile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Top 10% of customers by predicted 12-month CLV capture  48%  of aggregate CLV.  Gini ≈ 0.62.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Eleven RFM segments map 1-to-1 to retention tactics:  Champions → VIP · At Risk → win-back · Hibernating → reactivation · Lost → stop spending.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Retention budget  Rp 2 B / quarter  at  3:1 ROAS cap  →  ≈ 73%  of spend to the top two segments.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111111"/>
                </a:solidFill>
                <a:latin typeface="Helvetica"/>
              </a:rPr>
              <a:t>•  Which is also where  ≈ 80%  of the returnable CLV sits.  Flat retention programs waste  ≈ 85%  of spend.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0000"/>
                </a:solidFill>
                <a:latin typeface="Helvetica"/>
              </a:rPr>
              <a:t>IMPACT AND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111"/>
                </a:solidFill>
                <a:latin typeface="Helvetica"/>
              </a:rPr>
              <a:t>Rp 27 B / year incremental CLV on a 250K-registrant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111111"/>
                </a:solidFill>
                <a:latin typeface="Helvetica"/>
              </a:rPr>
              <a:t>•  First 90 days in a commercial analytics role:  wire POS + GA4 + commerce data into the modules above  (weeks 1–3).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111"/>
                </a:solidFill>
                <a:latin typeface="Helvetica"/>
              </a:rPr>
              <a:t>•  Launch three A/B experiments through the Experiment Designer workflow  (weeks 4–8).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111"/>
                </a:solidFill>
                <a:latin typeface="Helvetica"/>
              </a:rPr>
              <a:t>•  Ship first rupiah-denominated MMM readout with HDI to Brand Directors  (weeks 9–12).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111111"/>
                </a:solidFill>
                <a:latin typeface="Helvetica"/>
              </a:rPr>
              <a:t>•  Repo:  github.com/azulcoder/smokefreelab.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900">
                <a:solidFill>
                  <a:srgbClr val="555555"/>
                </a:solidFill>
                <a:latin typeface="Helvetica"/>
              </a:rPr>
              <a:t>SmokeFreeLab  ·  github.com/azulcoder/smokefreelab  ·  Ahmad Zulfan (Az)  ·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SmokeFreeLab</dc:title>
  <dc:subject>Commercial analytics playbook for a smoke-free product funnel</dc:subject>
  <dc:creator>Ahmad Zulfan (Az)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